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708"/>
  </p:normalViewPr>
  <p:slideViewPr>
    <p:cSldViewPr snapToGrid="0">
      <p:cViewPr varScale="1">
        <p:scale>
          <a:sx n="93" d="100"/>
          <a:sy n="93" d="100"/>
        </p:scale>
        <p:origin x="24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0E71-C445-844D-BB75-E9F7C1C9443B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C594D-2A92-904C-8881-9CBC8BDA6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3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594D-2A92-904C-8881-9CBC8BDA68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14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221B-3382-6D6A-B2E7-56A160619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860B1-397D-284C-6393-87FF7432E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CE2AF-7E23-AC35-DB02-6D43DF8F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24288-ABD7-14DD-1F91-5575E674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5048D-2620-0DAD-6FA4-D4435CE1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B8F0-D63A-A4B3-F0C0-5FF35CBB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F69B2-1774-3CD7-43D5-14611B93A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929DA-492A-50DD-A9FE-2EF9E7EE3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F3A0D-349C-83A9-8583-861DF339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9067E-900B-6463-BCDF-F48B1ABD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3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310C-CDCB-E807-3B34-3F71DA7E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1274B-7D66-93E9-73BA-74F65A411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D2D55-5C1A-71A4-4222-D2E2C750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EF786-7ABB-7F85-2ADF-24FF9D57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93EEC-E536-6B1F-904A-05D21FD4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0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BEFD-7004-B835-7832-C99B6E2C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21041-F8F8-CD9A-B9C7-31551D24C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82D08-3CAF-4EE6-8661-E992A949E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FD5BE-699D-5782-97C2-BFB46BC7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56CF4-070B-1111-ECA7-DEAC1C6E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890E5-5320-4976-4B8E-27014BC8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0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2727-2D98-9922-DEB7-92A8BA56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57A85-3F42-22E8-4015-5BF4261E8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40469-7DEE-F8D7-39BE-CE6BFA339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F4C80-E24B-FC76-B5C5-318FD33C3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E492B-DA18-D0CD-C36A-F632B88D2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C60BEC-D0DD-417B-79FD-333C5AD1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16F0A-39F8-D8C9-E23D-926690DB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7FDA99-871E-2FD3-21EB-989CFEC7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2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B589-49B2-9AFD-C97A-0A397CCB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89BF3-3692-49F2-CCE9-84517C0B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CEC3E-FBDD-1AB2-52B2-1CD61A95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65CF1-7780-27E4-A467-E3630BC3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6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4A76C-B44B-53D1-7CA6-DD78E26B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E205B-98B3-B82C-41AF-CECA757B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735B-88CB-806E-44EE-6976CB28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DFED-F582-12FF-AC61-C48FEF5B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AD6CA-2EE1-EE55-0633-383849839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B7B4C-30D2-8649-AF51-325E206D9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760FE-20C2-0D19-1718-DF4A16AD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12A37-F375-6788-791C-F3C6314F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A43DF-9B48-E420-6210-36AA1565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3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D235-2FC5-ADB5-A991-14D2E5E2B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7B8BFD-AEBB-7D27-8F0F-53F6135AD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D21F0-7E1D-E717-182C-47EBFB2CD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C15C-3E2A-3551-7D3D-3FEFB7EB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8094C-1FFA-BE5F-BED9-80F156E3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D3CE9-A4D9-90DE-4264-DA771E54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2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27ABB-4B01-A9B1-E771-89CF87F6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DA182-A10C-E309-B0E3-5263919FC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4FD6A-14FF-D406-79AF-F6908A24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ADD29-4206-79BC-73A8-12360C7C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18F2A-3017-8D42-1DE3-5F304E70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01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58C92-9B6C-7D0D-3C98-A7D6A23CA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EAC9B-F3F9-3F37-D404-92B0E3D7F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1FCF4-FE8C-2B4F-9718-4EE999A9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A4B1F-F4FA-1781-9AA8-314615C8F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DEEAE-E5A5-0A18-6995-ABC2F91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9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51629-8569-B1E4-AF70-EC7F5060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DF2D1-5682-07A0-5C30-33AC75386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14AD6-6BEA-5323-9B57-B81996A6F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CD8C3-3190-5242-AE52-117E3197463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B72CF-536A-68B8-D12C-CC486E195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7C876-661B-3B97-7298-6AD6D38CB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A8B30-B4AB-4D41-9628-CC32452E1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4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epo.anaconda.com/miniconda/Miniconda3-latest-Windows-x86_64.ex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2B4F-50EC-C0C4-CA90-E37BD873B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1605"/>
            <a:ext cx="9144000" cy="238760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Calibri" panose="020F0502020204030204" pitchFamily="34" charset="0"/>
                <a:cs typeface="Calibri" panose="020F0502020204030204" pitchFamily="34" charset="0"/>
              </a:rPr>
              <a:t>Getting Started with </a:t>
            </a:r>
            <a:r>
              <a:rPr lang="en-I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Conda</a:t>
            </a:r>
            <a:r>
              <a:rPr lang="en-IN" sz="4800" dirty="0">
                <a:latin typeface="Calibri" panose="020F0502020204030204" pitchFamily="34" charset="0"/>
                <a:cs typeface="Calibri" panose="020F0502020204030204" pitchFamily="34" charset="0"/>
              </a:rPr>
              <a:t> Environments</a:t>
            </a: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85C4A-34DD-5D2F-FC6E-9DFBEC1AE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052" y="5834973"/>
            <a:ext cx="4835236" cy="820342"/>
          </a:xfrm>
        </p:spPr>
        <p:txBody>
          <a:bodyPr>
            <a:normAutofit lnSpcReduction="10000"/>
          </a:bodyPr>
          <a:lstStyle/>
          <a:p>
            <a:endParaRPr lang="en-US" i="1" dirty="0"/>
          </a:p>
          <a:p>
            <a:r>
              <a:rPr lang="en-US" i="1" dirty="0"/>
              <a:t>ReloGene Bioinformatics Pvt. Ltd.</a:t>
            </a:r>
            <a:endParaRPr lang="en-US" dirty="0"/>
          </a:p>
        </p:txBody>
      </p:sp>
      <p:pic>
        <p:nvPicPr>
          <p:cNvPr id="6" name="Picture 5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74D4E007-DCBD-A67C-00BA-96B095E7A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3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EDC18-2AEA-0CCB-F7B3-33E0BDBE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Why Should I Care About </a:t>
            </a:r>
            <a:r>
              <a:rPr lang="en-IN" sz="3200" dirty="0" err="1"/>
              <a:t>Conda</a:t>
            </a:r>
            <a:r>
              <a:rPr lang="en-IN" sz="3200" dirty="0"/>
              <a:t>?</a:t>
            </a:r>
            <a:endParaRPr lang="en-US" sz="32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4C2CFC-52AD-3B84-74DD-796F2CD145D5}"/>
              </a:ext>
            </a:extLst>
          </p:cNvPr>
          <p:cNvSpPr/>
          <p:nvPr/>
        </p:nvSpPr>
        <p:spPr>
          <a:xfrm>
            <a:off x="838200" y="1507808"/>
            <a:ext cx="4754879" cy="4042186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095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IN" sz="16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IN" sz="1600" b="1" dirty="0">
                <a:solidFill>
                  <a:schemeClr val="tx1"/>
                </a:solidFill>
              </a:rPr>
              <a:t>🧠 Imagine working on two different science projects.</a:t>
            </a:r>
          </a:p>
          <a:p>
            <a:pPr marL="0" indent="0" algn="ctr">
              <a:buNone/>
            </a:pP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</a:rPr>
              <a:t>One needs </a:t>
            </a:r>
            <a:r>
              <a:rPr lang="en-IN" sz="1600" b="1" i="1" dirty="0">
                <a:solidFill>
                  <a:schemeClr val="tx1"/>
                </a:solidFill>
              </a:rPr>
              <a:t>Python 3.10</a:t>
            </a:r>
            <a:r>
              <a:rPr lang="en-IN" sz="1600" i="1" dirty="0">
                <a:solidFill>
                  <a:schemeClr val="tx1"/>
                </a:solidFill>
              </a:rPr>
              <a:t> and Package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</a:rPr>
              <a:t>The other needs </a:t>
            </a:r>
            <a:r>
              <a:rPr lang="en-IN" sz="1600" b="1" i="1" dirty="0">
                <a:solidFill>
                  <a:schemeClr val="tx1"/>
                </a:solidFill>
              </a:rPr>
              <a:t>Python 3.8</a:t>
            </a:r>
            <a:r>
              <a:rPr lang="en-IN" sz="1600" i="1" dirty="0">
                <a:solidFill>
                  <a:schemeClr val="tx1"/>
                </a:solidFill>
              </a:rPr>
              <a:t> and Package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Running both on the same system can cause </a:t>
            </a:r>
            <a:r>
              <a:rPr lang="en-IN" sz="1600" b="1" dirty="0">
                <a:solidFill>
                  <a:schemeClr val="tx1"/>
                </a:solidFill>
              </a:rPr>
              <a:t>conflicts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</a:pPr>
            <a:endParaRPr lang="en-IN" sz="16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IN" sz="1600" b="1" i="1" dirty="0">
                <a:solidFill>
                  <a:schemeClr val="tx1"/>
                </a:solidFill>
              </a:rPr>
              <a:t>#~~~~~~~~~~~~~~~~~~~~~~~~~#</a:t>
            </a:r>
          </a:p>
          <a:p>
            <a:pPr marL="0" indent="0" algn="ctr">
              <a:buNone/>
            </a:pPr>
            <a:r>
              <a:rPr lang="en-IN" sz="1600" b="1" i="1" dirty="0">
                <a:solidFill>
                  <a:schemeClr val="tx1"/>
                </a:solidFill>
              </a:rPr>
              <a:t>#</a:t>
            </a:r>
            <a:r>
              <a:rPr lang="en-IN" sz="1600" b="1" dirty="0">
                <a:solidFill>
                  <a:schemeClr val="tx1"/>
                </a:solidFill>
              </a:rPr>
              <a:t> </a:t>
            </a:r>
            <a:r>
              <a:rPr lang="en-IN" sz="1600" b="1" dirty="0" err="1">
                <a:solidFill>
                  <a:schemeClr val="tx1"/>
                </a:solidFill>
              </a:rPr>
              <a:t>Conda</a:t>
            </a:r>
            <a:r>
              <a:rPr lang="en-IN" sz="1600" b="1" dirty="0">
                <a:solidFill>
                  <a:schemeClr val="tx1"/>
                </a:solidFill>
              </a:rPr>
              <a:t> helps you avoid that.  </a:t>
            </a:r>
            <a:r>
              <a:rPr lang="en-IN" sz="1600" b="1" i="1" dirty="0">
                <a:solidFill>
                  <a:schemeClr val="tx1"/>
                </a:solidFill>
              </a:rPr>
              <a:t>#</a:t>
            </a:r>
          </a:p>
          <a:p>
            <a:pPr marL="0" indent="0" algn="ctr">
              <a:buNone/>
            </a:pPr>
            <a:r>
              <a:rPr lang="en-IN" sz="1600" b="1" i="1" dirty="0">
                <a:solidFill>
                  <a:schemeClr val="tx1"/>
                </a:solidFill>
              </a:rPr>
              <a:t>#~~~~~~~~~~~~~~~~~~~~~~~~~#</a:t>
            </a:r>
            <a:endParaRPr lang="en-IN" sz="1600" i="1" dirty="0">
              <a:solidFill>
                <a:schemeClr val="tx1"/>
              </a:solidFill>
            </a:endParaRPr>
          </a:p>
          <a:p>
            <a:endParaRPr lang="en-IN" sz="1600" i="1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FDE3E3D-0110-7350-491F-4E2980559F6B}"/>
              </a:ext>
            </a:extLst>
          </p:cNvPr>
          <p:cNvSpPr/>
          <p:nvPr/>
        </p:nvSpPr>
        <p:spPr>
          <a:xfrm>
            <a:off x="6725322" y="1507808"/>
            <a:ext cx="4754879" cy="4042186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703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IN" sz="16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IN" sz="1600" b="1" dirty="0">
                <a:solidFill>
                  <a:schemeClr val="tx1"/>
                </a:solidFill>
              </a:rPr>
              <a:t>🎒 </a:t>
            </a:r>
            <a:r>
              <a:rPr lang="en-IN" sz="1600" b="1" dirty="0" err="1">
                <a:solidFill>
                  <a:schemeClr val="tx1"/>
                </a:solidFill>
              </a:rPr>
              <a:t>Conda</a:t>
            </a:r>
            <a:r>
              <a:rPr lang="en-IN" sz="1600" b="1" dirty="0">
                <a:solidFill>
                  <a:schemeClr val="tx1"/>
                </a:solidFill>
              </a:rPr>
              <a:t> is like a backpack for each project.</a:t>
            </a:r>
          </a:p>
          <a:p>
            <a:pPr marL="0" indent="0" algn="ctr">
              <a:buNone/>
            </a:pPr>
            <a:endParaRPr lang="en-IN" sz="1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You pack only what you need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Keep it separate from other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You can “activate” or “switch” between backpacks anytime</a:t>
            </a:r>
          </a:p>
          <a:p>
            <a:endParaRPr lang="en-IN" sz="1600" i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712A7-D015-EE73-D4B7-309D04F447A2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4" name="Picture 3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453A6244-C341-4BD5-B97F-953D60998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09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DA4A-802B-FD04-9C34-3B12BD6E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What is </a:t>
            </a:r>
            <a:r>
              <a:rPr lang="en-IN" sz="3200" dirty="0" err="1"/>
              <a:t>Conda</a:t>
            </a:r>
            <a:r>
              <a:rPr lang="en-IN" sz="3200" dirty="0"/>
              <a:t>?</a:t>
            </a:r>
            <a:endParaRPr lang="en-US" sz="32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DC0B99-7889-9E73-8F0B-77265CD32920}"/>
              </a:ext>
            </a:extLst>
          </p:cNvPr>
          <p:cNvSpPr/>
          <p:nvPr/>
        </p:nvSpPr>
        <p:spPr>
          <a:xfrm>
            <a:off x="838200" y="1690688"/>
            <a:ext cx="8068235" cy="17383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Conda</a:t>
            </a:r>
            <a:r>
              <a:rPr lang="en-US" sz="1600" dirty="0">
                <a:solidFill>
                  <a:schemeClr val="tx1"/>
                </a:solidFill>
              </a:rPr>
              <a:t> is a tool that helps install software and manage environments</a:t>
            </a:r>
          </a:p>
          <a:p>
            <a:pPr algn="just"/>
            <a:endParaRPr lang="en-US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It’s like an organizer for your digital workspace (especially when you working on local device or workstations).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avoids the headache of software crashes due to mismatched versions.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2CA0B2-6698-959C-C74D-54678166CE26}"/>
              </a:ext>
            </a:extLst>
          </p:cNvPr>
          <p:cNvSpPr/>
          <p:nvPr/>
        </p:nvSpPr>
        <p:spPr>
          <a:xfrm>
            <a:off x="3285565" y="3667966"/>
            <a:ext cx="8068235" cy="17383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</a:rPr>
              <a:t>🔑 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No coding errors due to conflicting setups.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Easy to try out new tools without “breaking” your computer (local device/ workstation/HPCs).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1DC01-B430-461C-956C-73193F3C6927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7" name="Picture 6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EA55F532-C1B3-9245-CFE1-01C9B2B11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0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99C6-DE12-F882-340C-136347B33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E65A7-D512-7E54-D565-2D62B681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60741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Think of a House…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2FEF78-B758-CE76-0723-D6E40DFA505E}"/>
              </a:ext>
            </a:extLst>
          </p:cNvPr>
          <p:cNvSpPr/>
          <p:nvPr/>
        </p:nvSpPr>
        <p:spPr>
          <a:xfrm>
            <a:off x="838199" y="1510973"/>
            <a:ext cx="10515602" cy="398887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367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b="1" dirty="0"/>
              <a:t>🏠  </a:t>
            </a:r>
            <a:r>
              <a:rPr lang="en-IN" b="1" dirty="0">
                <a:solidFill>
                  <a:schemeClr val="tx1"/>
                </a:solidFill>
              </a:rPr>
              <a:t>Imagine a house with two separate rooms.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In Room A, the person is very neat – everything is clean and organized.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In Room B, the person is very messy – clothes on the floor, food everywhere.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Even though both people live under the same </a:t>
            </a:r>
            <a:r>
              <a:rPr lang="en-IN" b="1" dirty="0">
                <a:solidFill>
                  <a:schemeClr val="tx1"/>
                </a:solidFill>
              </a:rPr>
              <a:t>roof</a:t>
            </a:r>
            <a:r>
              <a:rPr lang="en-IN" dirty="0">
                <a:solidFill>
                  <a:schemeClr val="tx1"/>
                </a:solidFill>
              </a:rPr>
              <a:t> (</a:t>
            </a:r>
            <a:r>
              <a:rPr lang="en-IN" b="1" dirty="0">
                <a:solidFill>
                  <a:schemeClr val="tx1"/>
                </a:solidFill>
              </a:rPr>
              <a:t>your system</a:t>
            </a:r>
            <a:r>
              <a:rPr lang="en-IN" dirty="0">
                <a:solidFill>
                  <a:schemeClr val="tx1"/>
                </a:solidFill>
              </a:rPr>
              <a:t>), they don’t bother each other because they are in </a:t>
            </a:r>
            <a:r>
              <a:rPr lang="en-IN" b="1" dirty="0">
                <a:solidFill>
                  <a:schemeClr val="tx1"/>
                </a:solidFill>
              </a:rPr>
              <a:t>separate rooms </a:t>
            </a:r>
            <a:r>
              <a:rPr lang="en-IN" dirty="0">
                <a:solidFill>
                  <a:schemeClr val="tx1"/>
                </a:solidFill>
              </a:rPr>
              <a:t>(</a:t>
            </a:r>
            <a:r>
              <a:rPr lang="en-IN" b="1" dirty="0">
                <a:solidFill>
                  <a:schemeClr val="tx1"/>
                </a:solidFill>
              </a:rPr>
              <a:t>environments</a:t>
            </a:r>
            <a:r>
              <a:rPr lang="en-IN" dirty="0">
                <a:solidFill>
                  <a:schemeClr val="tx1"/>
                </a:solidFill>
              </a:rPr>
              <a:t>).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🧹 The tidy person keeps their space clean.</a:t>
            </a:r>
          </a:p>
          <a:p>
            <a:r>
              <a:rPr lang="en-IN" b="1" dirty="0">
                <a:solidFill>
                  <a:schemeClr val="tx1"/>
                </a:solidFill>
              </a:rPr>
              <a:t>🗑️ The messy person does what they want in their space.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Result: No clashes, the rest of the house remains peaceful.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ACD00-9ACD-2BC2-4C84-C8D156720EF3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6" name="Picture 5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EB058C8A-0C1A-16F5-9FE2-0D3ED09E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591B-91B1-AAC3-F0DA-F5F5B9E5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Imagine There Are No Rooms…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E9C0CCE-5AFF-C891-E743-307AB735C81A}"/>
              </a:ext>
            </a:extLst>
          </p:cNvPr>
          <p:cNvSpPr/>
          <p:nvPr/>
        </p:nvSpPr>
        <p:spPr>
          <a:xfrm>
            <a:off x="838198" y="1847149"/>
            <a:ext cx="10515602" cy="3356862"/>
          </a:xfrm>
          <a:prstGeom prst="roundRect">
            <a:avLst/>
          </a:prstGeom>
          <a:solidFill>
            <a:srgbClr val="FF0000">
              <a:alpha val="2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b="1" dirty="0"/>
              <a:t>🏠  </a:t>
            </a:r>
            <a:r>
              <a:rPr lang="en-IN" sz="1800" b="1" dirty="0">
                <a:solidFill>
                  <a:schemeClr val="tx1"/>
                </a:solidFill>
              </a:rPr>
              <a:t>What if both people had to live in one big shared </a:t>
            </a:r>
            <a:r>
              <a:rPr lang="en-IN" b="1" dirty="0">
                <a:solidFill>
                  <a:schemeClr val="tx1"/>
                </a:solidFill>
              </a:rPr>
              <a:t>space – no walls, no doors?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One keeps cleaning.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other keeps making a mess.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Soon, they start fighting</a:t>
            </a:r>
            <a:r>
              <a:rPr lang="en-IN" b="1" dirty="0">
                <a:solidFill>
                  <a:schemeClr val="tx1"/>
                </a:solidFill>
              </a:rPr>
              <a:t>, </a:t>
            </a:r>
            <a:r>
              <a:rPr lang="en-IN" dirty="0">
                <a:solidFill>
                  <a:schemeClr val="tx1"/>
                </a:solidFill>
              </a:rPr>
              <a:t>arguing, and messing up each other’s things.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💥 This is exactly what happens when you don’t use environments in programming: </a:t>
            </a:r>
          </a:p>
          <a:p>
            <a:pPr algn="ctr"/>
            <a:r>
              <a:rPr lang="en-IN" b="1" i="1" u="sng" dirty="0">
                <a:solidFill>
                  <a:schemeClr val="tx1"/>
                </a:solidFill>
              </a:rPr>
              <a:t>Conflicts</a:t>
            </a:r>
            <a:r>
              <a:rPr lang="en-IN" b="1" i="1" dirty="0">
                <a:solidFill>
                  <a:schemeClr val="tx1"/>
                </a:solidFill>
              </a:rPr>
              <a:t>, </a:t>
            </a:r>
            <a:r>
              <a:rPr lang="en-IN" b="1" i="1" u="sng" dirty="0">
                <a:solidFill>
                  <a:schemeClr val="tx1"/>
                </a:solidFill>
              </a:rPr>
              <a:t>errors</a:t>
            </a:r>
            <a:r>
              <a:rPr lang="en-IN" b="1" i="1" dirty="0">
                <a:solidFill>
                  <a:schemeClr val="tx1"/>
                </a:solidFill>
              </a:rPr>
              <a:t>, </a:t>
            </a:r>
            <a:r>
              <a:rPr lang="en-IN" b="1" i="1" u="sng" dirty="0">
                <a:solidFill>
                  <a:schemeClr val="tx1"/>
                </a:solidFill>
              </a:rPr>
              <a:t>broken tools</a:t>
            </a:r>
            <a:r>
              <a:rPr lang="en-IN" b="1" i="1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2E85D-989B-0AFD-BC2A-53EAB757AAE2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5" name="Picture 4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68DDD4B9-7A3A-F780-DA02-FF66B2D81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917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06BE-A08A-EB74-F033-4D4D1D03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err="1"/>
              <a:t>Conda</a:t>
            </a:r>
            <a:r>
              <a:rPr lang="en-IN" sz="3200" dirty="0"/>
              <a:t> Environments Keep Things Separate and Safe</a:t>
            </a:r>
            <a:endParaRPr lang="en-US" sz="32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7A1E64-DD15-CE51-7661-820A37732FD4}"/>
              </a:ext>
            </a:extLst>
          </p:cNvPr>
          <p:cNvSpPr/>
          <p:nvPr/>
        </p:nvSpPr>
        <p:spPr>
          <a:xfrm>
            <a:off x="838200" y="1690688"/>
            <a:ext cx="10515602" cy="349133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637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b="1" dirty="0">
                <a:solidFill>
                  <a:schemeClr val="tx1"/>
                </a:solidFill>
              </a:rPr>
              <a:t>Just like rooms in the house, </a:t>
            </a:r>
            <a:r>
              <a:rPr lang="en-IN" sz="1800" b="1" dirty="0" err="1">
                <a:solidFill>
                  <a:schemeClr val="tx1"/>
                </a:solidFill>
              </a:rPr>
              <a:t>conda</a:t>
            </a:r>
            <a:r>
              <a:rPr lang="en-IN" sz="1800" b="1" dirty="0">
                <a:solidFill>
                  <a:schemeClr val="tx1"/>
                </a:solidFill>
              </a:rPr>
              <a:t> isolates each project into its own clean, separate space:</a:t>
            </a:r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You can install specific tools in each room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Different room can have different versions of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What you do in one room never affects the other.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🧳 It’s like giving each person their own backpack, space, and freedom — and your house (computer) stays healthy and sane!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087C8-6A6D-1FA2-1C9A-EA45099FE9E2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6" name="Picture 5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F4BC6ED7-9A86-C29D-AF98-C71B4DB5E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7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099F-670E-6B52-3AAD-F16D52E2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Installing </a:t>
            </a:r>
            <a:r>
              <a:rPr lang="en-US" sz="3200" dirty="0" err="1"/>
              <a:t>Conda</a:t>
            </a:r>
            <a:r>
              <a:rPr lang="en-US" sz="3200" dirty="0"/>
              <a:t> (Windows)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427EB-E6D3-E2D0-F312-F17F5000E7C1}"/>
              </a:ext>
            </a:extLst>
          </p:cNvPr>
          <p:cNvSpPr/>
          <p:nvPr/>
        </p:nvSpPr>
        <p:spPr>
          <a:xfrm>
            <a:off x="470648" y="3934397"/>
            <a:ext cx="11250704" cy="15733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Andale Mono" panose="020B0509000000000004" pitchFamily="49" charset="0"/>
              </a:rPr>
              <a:t>curl </a:t>
            </a:r>
            <a:r>
              <a:rPr lang="en-US" sz="1400" dirty="0">
                <a:solidFill>
                  <a:schemeClr val="tx1"/>
                </a:solidFill>
                <a:latin typeface="Andale Mono" panose="020B0509000000000004" pitchFamily="49" charset="0"/>
                <a:hlinkClick r:id="rId2"/>
              </a:rPr>
              <a:t>https://repo.anaconda.com/miniconda/Miniconda3-latest-Windows-x86_64.exe</a:t>
            </a:r>
            <a:r>
              <a:rPr lang="en-US" sz="1400" dirty="0">
                <a:solidFill>
                  <a:schemeClr val="tx1"/>
                </a:solidFill>
                <a:latin typeface="Andale Mono" panose="020B0509000000000004" pitchFamily="49" charset="0"/>
              </a:rPr>
              <a:t> -o .\</a:t>
            </a:r>
            <a:r>
              <a:rPr lang="en-US" sz="1400" dirty="0" err="1">
                <a:solidFill>
                  <a:schemeClr val="tx1"/>
                </a:solidFill>
                <a:latin typeface="Andale Mono" panose="020B0509000000000004" pitchFamily="49" charset="0"/>
              </a:rPr>
              <a:t>miniconda.exe</a:t>
            </a:r>
            <a:endParaRPr lang="en-US" sz="1400" dirty="0">
              <a:solidFill>
                <a:schemeClr val="tx1"/>
              </a:solidFill>
              <a:latin typeface="Andale Mono" panose="020B0509000000000004" pitchFamily="49" charset="0"/>
            </a:endParaRPr>
          </a:p>
          <a:p>
            <a:endParaRPr lang="en-US" sz="1400" dirty="0">
              <a:solidFill>
                <a:schemeClr val="tx1"/>
              </a:solidFill>
              <a:latin typeface="Andale Mono" panose="020B0509000000000004" pitchFamily="49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Andale Mono" panose="020B0509000000000004" pitchFamily="49" charset="0"/>
              </a:rPr>
              <a:t>start /wait "" .\</a:t>
            </a:r>
            <a:r>
              <a:rPr lang="en-US" sz="1400" dirty="0" err="1">
                <a:solidFill>
                  <a:schemeClr val="tx1"/>
                </a:solidFill>
                <a:latin typeface="Andale Mono" panose="020B0509000000000004" pitchFamily="49" charset="0"/>
              </a:rPr>
              <a:t>miniconda.exe</a:t>
            </a:r>
            <a:r>
              <a:rPr lang="en-US" sz="1400" dirty="0">
                <a:solidFill>
                  <a:schemeClr val="tx1"/>
                </a:solidFill>
                <a:latin typeface="Andale Mono" panose="020B0509000000000004" pitchFamily="49" charset="0"/>
              </a:rPr>
              <a:t> /S</a:t>
            </a:r>
          </a:p>
          <a:p>
            <a:endParaRPr lang="en-US" sz="1400" dirty="0">
              <a:solidFill>
                <a:schemeClr val="tx1"/>
              </a:solidFill>
              <a:latin typeface="Andale Mono" panose="020B0509000000000004" pitchFamily="49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Andale Mono" panose="020B0509000000000004" pitchFamily="49" charset="0"/>
              </a:rPr>
              <a:t>del .\</a:t>
            </a:r>
            <a:r>
              <a:rPr lang="en-US" sz="1400" dirty="0" err="1">
                <a:solidFill>
                  <a:schemeClr val="tx1"/>
                </a:solidFill>
                <a:latin typeface="Andale Mono" panose="020B0509000000000004" pitchFamily="49" charset="0"/>
              </a:rPr>
              <a:t>miniconda.exe</a:t>
            </a:r>
            <a:endParaRPr lang="en-US" sz="1400" dirty="0">
              <a:solidFill>
                <a:schemeClr val="tx1"/>
              </a:solidFill>
              <a:latin typeface="Andale Mono" panose="020B0509000000000004" pitchFamily="49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472EF3-7158-2B57-F650-263B1CC71831}"/>
              </a:ext>
            </a:extLst>
          </p:cNvPr>
          <p:cNvSpPr/>
          <p:nvPr/>
        </p:nvSpPr>
        <p:spPr>
          <a:xfrm>
            <a:off x="470648" y="1519114"/>
            <a:ext cx="5441576" cy="22456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solidFill>
                  <a:schemeClr val="tx1"/>
                </a:solidFill>
              </a:rPr>
              <a:t>*We’ll use </a:t>
            </a:r>
            <a:r>
              <a:rPr lang="en-IN" sz="1600" b="1" i="1" dirty="0" err="1">
                <a:solidFill>
                  <a:schemeClr val="tx1"/>
                </a:solidFill>
              </a:rPr>
              <a:t>Miniconda</a:t>
            </a:r>
            <a:r>
              <a:rPr lang="en-IN" sz="1600" i="1" dirty="0">
                <a:solidFill>
                  <a:schemeClr val="tx1"/>
                </a:solidFill>
              </a:rPr>
              <a:t>: a lightweight version of Anaconda</a:t>
            </a:r>
          </a:p>
          <a:p>
            <a:endParaRPr lang="en-IN" sz="1600" i="1" dirty="0">
              <a:solidFill>
                <a:schemeClr val="tx1"/>
              </a:solidFill>
            </a:endParaRPr>
          </a:p>
          <a:p>
            <a:r>
              <a:rPr lang="en-IN" sz="1600" b="1" dirty="0">
                <a:solidFill>
                  <a:schemeClr val="tx1"/>
                </a:solidFill>
              </a:rPr>
              <a:t>For Windows: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Open your Command Prompt (Search </a:t>
            </a:r>
            <a:r>
              <a:rPr lang="en-US" sz="1600" dirty="0" err="1">
                <a:solidFill>
                  <a:schemeClr val="tx1"/>
                </a:solidFill>
              </a:rPr>
              <a:t>cmd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Type the following commands: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D6D3E8-31BB-D110-D13E-B5707090B716}"/>
              </a:ext>
            </a:extLst>
          </p:cNvPr>
          <p:cNvSpPr/>
          <p:nvPr/>
        </p:nvSpPr>
        <p:spPr>
          <a:xfrm>
            <a:off x="6279776" y="1519113"/>
            <a:ext cx="5441576" cy="22456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There are three separate commands: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First command</a:t>
            </a:r>
            <a:r>
              <a:rPr lang="en-US" sz="1600" dirty="0">
                <a:solidFill>
                  <a:schemeClr val="tx1"/>
                </a:solidFill>
              </a:rPr>
              <a:t>, downloads the </a:t>
            </a:r>
            <a:r>
              <a:rPr lang="en-US" sz="1600" dirty="0" err="1">
                <a:solidFill>
                  <a:schemeClr val="tx1"/>
                </a:solidFill>
              </a:rPr>
              <a:t>miniconda</a:t>
            </a:r>
            <a:r>
              <a:rPr lang="en-US" sz="1600" dirty="0">
                <a:solidFill>
                  <a:schemeClr val="tx1"/>
                </a:solidFill>
              </a:rPr>
              <a:t> software installer from the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Second command</a:t>
            </a:r>
            <a:r>
              <a:rPr lang="en-US" sz="1600" dirty="0">
                <a:solidFill>
                  <a:schemeClr val="tx1"/>
                </a:solidFill>
              </a:rPr>
              <a:t>, starts the installation using the downloaded installer.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Third command</a:t>
            </a:r>
            <a:r>
              <a:rPr lang="en-US" sz="1600" dirty="0">
                <a:solidFill>
                  <a:schemeClr val="tx1"/>
                </a:solidFill>
              </a:rPr>
              <a:t>, deletes the installer since the </a:t>
            </a:r>
            <a:r>
              <a:rPr lang="en-US" sz="1600" dirty="0" err="1">
                <a:solidFill>
                  <a:schemeClr val="tx1"/>
                </a:solidFill>
              </a:rPr>
              <a:t>miniconda</a:t>
            </a:r>
            <a:r>
              <a:rPr lang="en-US" sz="1600" dirty="0">
                <a:solidFill>
                  <a:schemeClr val="tx1"/>
                </a:solidFill>
              </a:rPr>
              <a:t> is already installed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44101-EF8D-D2FD-E3D8-B3E823042200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5" name="Picture 4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44621A47-DE2B-F43E-FAF6-5F974C41C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0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7EE3-0120-1288-57B5-60D4A417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Installing </a:t>
            </a:r>
            <a:r>
              <a:rPr lang="en-US" sz="3200" dirty="0" err="1"/>
              <a:t>Conda</a:t>
            </a:r>
            <a:r>
              <a:rPr lang="en-US" sz="3200" dirty="0"/>
              <a:t> (MacOS)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7F6F75-9FE2-F658-2B58-5B865953F101}"/>
              </a:ext>
            </a:extLst>
          </p:cNvPr>
          <p:cNvSpPr/>
          <p:nvPr/>
        </p:nvSpPr>
        <p:spPr>
          <a:xfrm>
            <a:off x="510989" y="1451879"/>
            <a:ext cx="11040035" cy="10492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Same as windows we will be downloading and installing </a:t>
            </a:r>
            <a:r>
              <a:rPr lang="en-US" sz="1600" dirty="0" err="1">
                <a:solidFill>
                  <a:schemeClr val="tx1"/>
                </a:solidFill>
              </a:rPr>
              <a:t>miniconda</a:t>
            </a:r>
            <a:r>
              <a:rPr lang="en-US" sz="1600" dirty="0">
                <a:solidFill>
                  <a:schemeClr val="tx1"/>
                </a:solidFill>
              </a:rPr>
              <a:t> using the mac terminal.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Since the mac comes in two different kind of chipset (Intel and Apple Silicon) the installation is a bit different.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 can check if your mac has intel chip or Apple silicon chip (M1, M2 or M3) and use the commands accordingly.</a:t>
            </a:r>
          </a:p>
        </p:txBody>
      </p:sp>
      <p:pic>
        <p:nvPicPr>
          <p:cNvPr id="10" name="Picture 9" descr="A screen shot of a computer&#10;&#10;Description automatically generated">
            <a:extLst>
              <a:ext uri="{FF2B5EF4-FFF2-40B4-BE49-F238E27FC236}">
                <a16:creationId xmlns:a16="http://schemas.microsoft.com/office/drawing/2014/main" id="{C0255B95-FB1B-801F-91E7-DA749B23D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9" y="2629385"/>
            <a:ext cx="8985458" cy="14695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3880BF-4848-B242-0A0E-226EC3BBA674}"/>
              </a:ext>
            </a:extLst>
          </p:cNvPr>
          <p:cNvSpPr txBox="1"/>
          <p:nvPr/>
        </p:nvSpPr>
        <p:spPr>
          <a:xfrm>
            <a:off x="9717740" y="3029639"/>
            <a:ext cx="1963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For Intel based mac</a:t>
            </a:r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6F657700-7A1B-0006-4616-D3F517261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271" y="4205552"/>
            <a:ext cx="8310283" cy="14643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F79E12-0D42-5220-F7AF-7A663378DA88}"/>
              </a:ext>
            </a:extLst>
          </p:cNvPr>
          <p:cNvSpPr txBox="1"/>
          <p:nvPr/>
        </p:nvSpPr>
        <p:spPr>
          <a:xfrm>
            <a:off x="694764" y="4630695"/>
            <a:ext cx="2084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For Apple Silicon mac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A1777-5F54-45E2-1323-3A648ECF79C2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6" name="Picture 5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FD436D48-A641-76ED-2A74-781B89FF6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71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A469-DE88-5CBE-9CDC-8D70B8F3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Installing </a:t>
            </a:r>
            <a:r>
              <a:rPr lang="en-US" sz="3200" dirty="0" err="1"/>
              <a:t>Conda</a:t>
            </a:r>
            <a:r>
              <a:rPr lang="en-US" sz="3200" dirty="0"/>
              <a:t> (MacOS)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3031-1BBB-5C91-4B62-A3CE8328E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1991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Once installation is complete: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Restart your command prompt (if Windows) or terminal (if Mac)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Check if the </a:t>
            </a:r>
            <a:r>
              <a:rPr lang="en-US" sz="1600" dirty="0" err="1"/>
              <a:t>conda</a:t>
            </a:r>
            <a:r>
              <a:rPr lang="en-US" sz="1600" dirty="0"/>
              <a:t> is correctly installed by typing the following command: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err="1">
                <a:highlight>
                  <a:srgbClr val="C0C0C0"/>
                </a:highlight>
                <a:latin typeface="Abadi MT Condensed Light" panose="020B0306030101010103" pitchFamily="34" charset="77"/>
              </a:rPr>
              <a:t>conda</a:t>
            </a:r>
            <a:r>
              <a:rPr lang="en-US" sz="1600" dirty="0">
                <a:highlight>
                  <a:srgbClr val="C0C0C0"/>
                </a:highlight>
                <a:latin typeface="Abadi MT Condensed Light" panose="020B0306030101010103" pitchFamily="34" charset="77"/>
              </a:rPr>
              <a:t> --version</a:t>
            </a:r>
          </a:p>
          <a:p>
            <a:r>
              <a:rPr lang="en-US" sz="1600" dirty="0"/>
              <a:t>This will print the version of </a:t>
            </a:r>
            <a:r>
              <a:rPr lang="en-US" sz="1600" dirty="0" err="1"/>
              <a:t>conda</a:t>
            </a:r>
            <a:r>
              <a:rPr lang="en-US" sz="1600" dirty="0"/>
              <a:t> installed in your device. Once confirmed run: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err="1">
                <a:highlight>
                  <a:srgbClr val="C0C0C0"/>
                </a:highlight>
                <a:latin typeface="Abadi MT Condensed Light" panose="020B0306030101010103" pitchFamily="34" charset="77"/>
              </a:rPr>
              <a:t>conda</a:t>
            </a:r>
            <a:r>
              <a:rPr lang="en-US" sz="1600" dirty="0">
                <a:highlight>
                  <a:srgbClr val="C0C0C0"/>
                </a:highlight>
                <a:latin typeface="Abadi MT Condensed Light" panose="020B0306030101010103" pitchFamily="34" charset="77"/>
              </a:rPr>
              <a:t> activate </a:t>
            </a:r>
          </a:p>
          <a:p>
            <a:pPr marL="0" indent="0">
              <a:buNone/>
            </a:pPr>
            <a:endParaRPr lang="en-US" sz="1600" dirty="0">
              <a:highlight>
                <a:srgbClr val="C0C0C0"/>
              </a:highlight>
              <a:latin typeface="Abadi MT Condensed Light" panose="020B0306030101010103" pitchFamily="34" charset="77"/>
            </a:endParaRPr>
          </a:p>
          <a:p>
            <a:r>
              <a:rPr lang="en-US" sz="1600" dirty="0"/>
              <a:t>This command will start the </a:t>
            </a:r>
            <a:r>
              <a:rPr lang="en-US" sz="1600" dirty="0" err="1"/>
              <a:t>conda</a:t>
            </a:r>
            <a:r>
              <a:rPr lang="en-US" sz="1600" dirty="0"/>
              <a:t> base environment(This is your </a:t>
            </a:r>
            <a:r>
              <a:rPr lang="en-US" sz="1600" b="1" dirty="0"/>
              <a:t>House</a:t>
            </a:r>
            <a:r>
              <a:rPr lang="en-US" sz="1600" dirty="0"/>
              <a:t>!)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600" dirty="0">
              <a:highlight>
                <a:srgbClr val="C0C0C0"/>
              </a:highlight>
              <a:latin typeface="Abadi MT Condensed Light" panose="020B0306030101010103" pitchFamily="34" charset="77"/>
            </a:endParaRPr>
          </a:p>
          <a:p>
            <a:pPr marL="0" indent="0">
              <a:buNone/>
            </a:pPr>
            <a:endParaRPr lang="en-US" sz="1600" dirty="0">
              <a:highlight>
                <a:srgbClr val="C0C0C0"/>
              </a:highlight>
              <a:latin typeface="Abadi MT Condensed Light" panose="020B0306030101010103" pitchFamily="34" charset="77"/>
            </a:endParaRPr>
          </a:p>
          <a:p>
            <a:pPr marL="0" indent="0">
              <a:buNone/>
            </a:pPr>
            <a:endParaRPr lang="en-US" sz="1600" dirty="0">
              <a:highlight>
                <a:srgbClr val="C0C0C0"/>
              </a:highlight>
              <a:latin typeface="Abadi MT Condensed Light" panose="020B0306030101010103" pitchFamily="34" charset="77"/>
            </a:endParaRPr>
          </a:p>
          <a:p>
            <a:pPr marL="0" indent="0">
              <a:buNone/>
            </a:pPr>
            <a:r>
              <a:rPr lang="en-US" sz="1600" dirty="0"/>
              <a:t>Once you see the (base); It means that now you are in the </a:t>
            </a:r>
            <a:r>
              <a:rPr lang="en-US" sz="1600" b="1" dirty="0"/>
              <a:t>House</a:t>
            </a:r>
            <a:r>
              <a:rPr lang="en-US" sz="1600" dirty="0"/>
              <a:t>! </a:t>
            </a:r>
          </a:p>
          <a:p>
            <a:r>
              <a:rPr lang="en-US" sz="1600" dirty="0"/>
              <a:t>This environment is also called the Global environment.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85151E8-E7F5-5C45-77C2-13B5976E6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0" y="3996018"/>
            <a:ext cx="6413500" cy="9906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C8F0282-0709-2E9F-5D34-36EF82871D22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7" name="Picture 6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6E78992A-1C9E-EE1A-C779-069670D5D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0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75CC-ABF6-EA6B-19BA-93BB6E5C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Creating New 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FD8B1-5890-1C67-1117-84D45E5D6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6807"/>
            <a:ext cx="10515600" cy="2664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If you remember from our story; we need to have </a:t>
            </a:r>
            <a:r>
              <a:rPr lang="en-US" sz="1800" b="1" dirty="0"/>
              <a:t>rooms</a:t>
            </a:r>
            <a:r>
              <a:rPr lang="en-US" sz="1800" dirty="0"/>
              <a:t> (</a:t>
            </a:r>
            <a:r>
              <a:rPr lang="en-US" sz="1800" b="1" dirty="0"/>
              <a:t>local environments</a:t>
            </a:r>
            <a:r>
              <a:rPr lang="en-US" sz="1800" dirty="0"/>
              <a:t>)in the </a:t>
            </a:r>
            <a:r>
              <a:rPr lang="en-US" sz="1800" b="1" dirty="0"/>
              <a:t>house</a:t>
            </a:r>
            <a:r>
              <a:rPr lang="en-US" sz="1800" dirty="0"/>
              <a:t>(</a:t>
            </a:r>
            <a:r>
              <a:rPr lang="en-US" sz="1800" b="1" dirty="0"/>
              <a:t>global environment</a:t>
            </a:r>
            <a:r>
              <a:rPr lang="en-US" sz="1800" dirty="0"/>
              <a:t>) to prevent clashes between the housemates(</a:t>
            </a:r>
            <a:r>
              <a:rPr lang="en-US" sz="1800" b="1" dirty="0"/>
              <a:t>Python/</a:t>
            </a:r>
            <a:r>
              <a:rPr lang="en-US" sz="1800" b="1" dirty="0" err="1"/>
              <a:t>Softwares</a:t>
            </a:r>
            <a:r>
              <a:rPr lang="en-US" sz="1800" b="1" dirty="0"/>
              <a:t>/Tools</a:t>
            </a:r>
            <a:r>
              <a:rPr lang="en-US" sz="1800" dirty="0"/>
              <a:t>).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b="1" dirty="0"/>
              <a:t>Now to create a local environment we use the following command</a:t>
            </a:r>
          </a:p>
          <a:p>
            <a:pPr marL="0" indent="0" algn="ctr"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conda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create --name </a:t>
            </a:r>
            <a:r>
              <a:rPr lang="en-IN" sz="18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myenv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python=3.11</a:t>
            </a:r>
            <a:endParaRPr lang="en-IN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IN" sz="1800" i="1" dirty="0">
                <a:solidFill>
                  <a:srgbClr val="000000"/>
                </a:solidFill>
              </a:rPr>
              <a:t>At some point of creating the </a:t>
            </a:r>
            <a:r>
              <a:rPr lang="en-IN" sz="1800" i="1" dirty="0" err="1">
                <a:solidFill>
                  <a:srgbClr val="000000"/>
                </a:solidFill>
              </a:rPr>
              <a:t>conda</a:t>
            </a:r>
            <a:r>
              <a:rPr lang="en-IN" sz="1800" i="1" dirty="0">
                <a:solidFill>
                  <a:srgbClr val="000000"/>
                </a:solidFill>
              </a:rPr>
              <a:t> environment </a:t>
            </a:r>
            <a:r>
              <a:rPr lang="en-IN" sz="1800" i="1" dirty="0">
                <a:solidFill>
                  <a:srgbClr val="000000"/>
                </a:solidFill>
                <a:effectLst/>
              </a:rPr>
              <a:t>you will be asked to press </a:t>
            </a:r>
            <a:r>
              <a:rPr lang="en-IN" sz="1800" b="1" i="1" dirty="0">
                <a:solidFill>
                  <a:srgbClr val="000000"/>
                </a:solidFill>
                <a:effectLst/>
              </a:rPr>
              <a:t>[y]/[n], </a:t>
            </a:r>
            <a:r>
              <a:rPr lang="en-IN" sz="1800" i="1" dirty="0">
                <a:solidFill>
                  <a:srgbClr val="000000"/>
                </a:solidFill>
                <a:effectLst/>
              </a:rPr>
              <a:t>Just type ‘</a:t>
            </a:r>
            <a:r>
              <a:rPr lang="en-IN" sz="1800" b="1" i="1" dirty="0">
                <a:solidFill>
                  <a:srgbClr val="000000"/>
                </a:solidFill>
                <a:effectLst/>
              </a:rPr>
              <a:t>y</a:t>
            </a:r>
            <a:r>
              <a:rPr lang="en-IN" sz="1800" i="1" dirty="0">
                <a:solidFill>
                  <a:srgbClr val="000000"/>
                </a:solidFill>
                <a:effectLst/>
              </a:rPr>
              <a:t>’ and press enter.</a:t>
            </a:r>
          </a:p>
          <a:p>
            <a:pPr marL="0" indent="0">
              <a:buNone/>
            </a:pPr>
            <a:endParaRPr lang="en-IN" sz="1800" i="1" dirty="0">
              <a:solidFill>
                <a:srgbClr val="00000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180ED12-CBCF-BE76-AF2C-8001771BD1AB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5" name="Picture 4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F9B7D34D-08CD-695B-0C91-12C2F71F3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46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8F73-A160-1E69-C538-3D9AFF64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Creating New Room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E2C9CA-5E8E-4768-A94F-604FB546DA72}"/>
              </a:ext>
            </a:extLst>
          </p:cNvPr>
          <p:cNvSpPr txBox="1"/>
          <p:nvPr/>
        </p:nvSpPr>
        <p:spPr>
          <a:xfrm>
            <a:off x="838200" y="1363159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</a:rPr>
              <a:t>Once the installation is complete type the following command:</a:t>
            </a:r>
          </a:p>
          <a:p>
            <a:pPr marL="0" indent="0" algn="ctr"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conda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activate </a:t>
            </a:r>
            <a:r>
              <a:rPr lang="en-IN" sz="18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myenv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</a:p>
          <a:p>
            <a:pPr marL="0" indent="0" algn="ctr">
              <a:buNone/>
            </a:pPr>
            <a:endParaRPr lang="en-IN" sz="1800" dirty="0">
              <a:solidFill>
                <a:srgbClr val="000000"/>
              </a:solidFill>
              <a:effectLst/>
              <a:highlight>
                <a:srgbClr val="C0C0C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Now you can see that we see </a:t>
            </a:r>
            <a:r>
              <a:rPr lang="en-US" sz="1800" dirty="0" err="1"/>
              <a:t>myenv</a:t>
            </a:r>
            <a:r>
              <a:rPr lang="en-US" sz="1800" dirty="0"/>
              <a:t> instead of base!</a:t>
            </a:r>
          </a:p>
          <a:p>
            <a:r>
              <a:rPr lang="en-US" sz="1800" b="1" dirty="0"/>
              <a:t>Congratulations!</a:t>
            </a:r>
            <a:r>
              <a:rPr lang="en-US" sz="1800" dirty="0"/>
              <a:t> Now in our house </a:t>
            </a:r>
            <a:r>
              <a:rPr lang="en-US" sz="1800" b="1" dirty="0"/>
              <a:t>base</a:t>
            </a:r>
            <a:r>
              <a:rPr lang="en-US" sz="1800" dirty="0"/>
              <a:t>, we have successfully created a room </a:t>
            </a:r>
            <a:r>
              <a:rPr lang="en-US" sz="1800" b="1" dirty="0" err="1"/>
              <a:t>myenv</a:t>
            </a:r>
            <a:r>
              <a:rPr lang="en-US" sz="1800" dirty="0"/>
              <a:t> !!!</a:t>
            </a:r>
          </a:p>
          <a:p>
            <a:endParaRPr lang="en-US" sz="1800" dirty="0"/>
          </a:p>
          <a:p>
            <a:r>
              <a:rPr lang="en-US" b="1" dirty="0"/>
              <a:t>To exit the local environment, type the following command:</a:t>
            </a:r>
          </a:p>
          <a:p>
            <a:pPr algn="ctr"/>
            <a:r>
              <a:rPr lang="en-IN" sz="18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conda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deactivate </a:t>
            </a:r>
            <a:r>
              <a:rPr lang="en-IN" sz="18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myenv</a:t>
            </a:r>
            <a:endParaRPr lang="en-IN" sz="1800" dirty="0">
              <a:solidFill>
                <a:srgbClr val="000000"/>
              </a:solidFill>
              <a:effectLst/>
              <a:highlight>
                <a:srgbClr val="C0C0C0"/>
              </a:highlight>
              <a:latin typeface="Menlo" panose="020B0609030804020204" pitchFamily="49" charset="0"/>
            </a:endParaRPr>
          </a:p>
          <a:p>
            <a:pPr algn="ctr"/>
            <a:endParaRPr lang="en-IN" sz="1800" dirty="0">
              <a:solidFill>
                <a:srgbClr val="000000"/>
              </a:solidFill>
              <a:effectLst/>
              <a:highlight>
                <a:srgbClr val="C0C0C0"/>
              </a:highlight>
              <a:latin typeface="Menlo" panose="020B060903080402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will bring you out from your local environment (</a:t>
            </a:r>
            <a:r>
              <a:rPr lang="en-US" dirty="0" err="1"/>
              <a:t>myenv</a:t>
            </a:r>
            <a:r>
              <a:rPr lang="en-US" dirty="0"/>
              <a:t>) back to the global environment (base)</a:t>
            </a: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2AF31-B722-0C43-A383-72244EECA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2071839"/>
            <a:ext cx="6591300" cy="622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9B073B-1B07-1071-27E4-7EAA8BAFC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650" y="4549327"/>
            <a:ext cx="6223000" cy="5969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61C205F-2A89-2822-A244-00A9D58F65FB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7" name="Picture 6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296EB670-B14F-C2AD-A2D0-876B9CCC3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13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6878-F262-37C9-4BC6-F0E5D060F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Congratulations!!!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EB370-75D7-3E40-1037-20900B465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1468" y="2788509"/>
            <a:ext cx="10515600" cy="1950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What we have learned so far:</a:t>
            </a:r>
          </a:p>
          <a:p>
            <a:r>
              <a:rPr lang="en-US" sz="1600" dirty="0"/>
              <a:t>Installation of </a:t>
            </a:r>
            <a:r>
              <a:rPr lang="en-US" sz="1600" dirty="0" err="1"/>
              <a:t>miniconda</a:t>
            </a:r>
            <a:r>
              <a:rPr lang="en-US" sz="1600" dirty="0"/>
              <a:t>.</a:t>
            </a:r>
          </a:p>
          <a:p>
            <a:r>
              <a:rPr lang="en-US" sz="1600" dirty="0"/>
              <a:t>Setting up </a:t>
            </a:r>
            <a:r>
              <a:rPr lang="en-US" sz="1600" dirty="0" err="1"/>
              <a:t>conda</a:t>
            </a:r>
            <a:r>
              <a:rPr lang="en-US" sz="1600" dirty="0"/>
              <a:t> base environment (Our house)</a:t>
            </a:r>
          </a:p>
          <a:p>
            <a:r>
              <a:rPr lang="en-US" sz="1600" dirty="0"/>
              <a:t>Creating new local environment (Our rooms)</a:t>
            </a:r>
          </a:p>
          <a:p>
            <a:r>
              <a:rPr lang="en-US" sz="1600" dirty="0"/>
              <a:t>Activating and deactivating local environments.</a:t>
            </a:r>
          </a:p>
          <a:p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Model 8" descr="Fireworks 1">
                <a:extLst>
                  <a:ext uri="{FF2B5EF4-FFF2-40B4-BE49-F238E27FC236}">
                    <a16:creationId xmlns:a16="http://schemas.microsoft.com/office/drawing/2014/main" id="{4115990B-C249-6AA0-EBB7-6841C247A6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2557901"/>
                  </p:ext>
                </p:extLst>
              </p:nvPr>
            </p:nvGraphicFramePr>
            <p:xfrm>
              <a:off x="7243482" y="2022988"/>
              <a:ext cx="4109964" cy="31712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109964" cy="3171267"/>
                    </a:xfrm>
                    <a:prstGeom prst="rect">
                      <a:avLst/>
                    </a:prstGeom>
                  </am3d:spPr>
                  <am3d:camera>
                    <am3d:pos x="0" y="0" z="6070150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7956" d="1000000"/>
                    <am3d:preTrans dx="-705920" dy="-14201163" dz="550"/>
                    <am3d:scale>
                      <am3d:sx n="1000000" d="1000000"/>
                      <am3d:sy n="1000000" d="1000000"/>
                      <am3d:sz n="1000000" d="1000000"/>
                    </am3d:scale>
                    <am3d:rot ax="484876" ay="-1075105" az="-15008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3530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Model 8" descr="Fireworks 1">
                <a:extLst>
                  <a:ext uri="{FF2B5EF4-FFF2-40B4-BE49-F238E27FC236}">
                    <a16:creationId xmlns:a16="http://schemas.microsoft.com/office/drawing/2014/main" id="{4115990B-C249-6AA0-EBB7-6841C247A6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43482" y="2022988"/>
                <a:ext cx="4109964" cy="317126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Subtitle 2">
            <a:extLst>
              <a:ext uri="{FF2B5EF4-FFF2-40B4-BE49-F238E27FC236}">
                <a16:creationId xmlns:a16="http://schemas.microsoft.com/office/drawing/2014/main" id="{BCD4A044-A472-8A26-F0FC-8C5B47409D6C}"/>
              </a:ext>
            </a:extLst>
          </p:cNvPr>
          <p:cNvSpPr txBox="1">
            <a:spLocks/>
          </p:cNvSpPr>
          <p:nvPr/>
        </p:nvSpPr>
        <p:spPr>
          <a:xfrm>
            <a:off x="526472" y="5834973"/>
            <a:ext cx="4835236" cy="820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ReloGene Bioinformatics Pvt. Ltd.</a:t>
            </a:r>
            <a:endParaRPr lang="en-US" dirty="0"/>
          </a:p>
        </p:txBody>
      </p:sp>
      <p:pic>
        <p:nvPicPr>
          <p:cNvPr id="7" name="Picture 6" descr="A colorful dots on a black background&#10;&#10;Description automatically generated">
            <a:extLst>
              <a:ext uri="{FF2B5EF4-FFF2-40B4-BE49-F238E27FC236}">
                <a16:creationId xmlns:a16="http://schemas.microsoft.com/office/drawing/2014/main" id="{D8487892-67CE-F8E1-A1C6-F0B905C65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3675" y="5746395"/>
            <a:ext cx="1056174" cy="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93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996</Words>
  <Application>Microsoft Macintosh PowerPoint</Application>
  <PresentationFormat>Widescreen</PresentationFormat>
  <Paragraphs>147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Abadi MT Condensed Light</vt:lpstr>
      <vt:lpstr>Andale Mono</vt:lpstr>
      <vt:lpstr>Aptos</vt:lpstr>
      <vt:lpstr>Aptos Display</vt:lpstr>
      <vt:lpstr>Arial</vt:lpstr>
      <vt:lpstr>Calibri</vt:lpstr>
      <vt:lpstr>Menlo</vt:lpstr>
      <vt:lpstr>Office Theme</vt:lpstr>
      <vt:lpstr>Getting Started with Conda Environments</vt:lpstr>
      <vt:lpstr>Why Should I Care About Conda?</vt:lpstr>
      <vt:lpstr>What is Conda?</vt:lpstr>
      <vt:lpstr>Think of a House…</vt:lpstr>
      <vt:lpstr>Imagine There Are No Rooms…</vt:lpstr>
      <vt:lpstr>Conda Environments Keep Things Separate and Safe</vt:lpstr>
      <vt:lpstr>Installing Conda (Windows)</vt:lpstr>
      <vt:lpstr>Installing Conda (MacOS)</vt:lpstr>
      <vt:lpstr>Installing Conda (MacOS)</vt:lpstr>
      <vt:lpstr>Creating New Room</vt:lpstr>
      <vt:lpstr>Creating New Room</vt:lpstr>
      <vt:lpstr>Congratulations!!!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Samaksh Singh</dc:creator>
  <cp:lastModifiedBy>Samaksh Singh</cp:lastModifiedBy>
  <cp:revision>3</cp:revision>
  <dcterms:created xsi:type="dcterms:W3CDTF">2025-07-02T04:24:44Z</dcterms:created>
  <dcterms:modified xsi:type="dcterms:W3CDTF">2026-04-24T02:22:04Z</dcterms:modified>
</cp:coreProperties>
</file>